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64008"/>
            <a:ext cx="3840480" cy="5010912"/>
          </a:xfrm>
          <a:prstGeom prst="rect">
            <a:avLst/>
          </a:prstGeom>
          <a:solidFill>
            <a:srgbClr val="071A2E"/>
          </a:solidFill>
          <a:ln w="12700">
            <a:solidFill>
              <a:srgbClr val="071A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73152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49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CHARGING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9496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212080" y="64008"/>
            <a:ext cx="45720" cy="501091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5029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BRANDING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411480" y="13258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PACK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411480" y="2286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Print-Ready Signage &amp; Site Identity System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11480" y="2788920"/>
            <a:ext cx="4389120" cy="274320"/>
          </a:xfrm>
          <a:prstGeom prst="roundRect">
            <a:avLst>
              <a:gd name="adj" fmla="val 16667"/>
            </a:avLst>
          </a:prstGeom>
          <a:solidFill>
            <a:srgbClr val="0D3060"/>
          </a:solidFill>
          <a:ln w="12700">
            <a:solidFill>
              <a:srgbClr val="1B4A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788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AC Banner  8×3 ft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3136392"/>
            <a:ext cx="4389120" cy="274320"/>
          </a:xfrm>
          <a:prstGeom prst="roundRect">
            <a:avLst>
              <a:gd name="adj" fmla="val 16667"/>
            </a:avLst>
          </a:prstGeom>
          <a:solidFill>
            <a:srgbClr val="0D3060"/>
          </a:solidFill>
          <a:ln w="12700">
            <a:solidFill>
              <a:srgbClr val="1B4A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1363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DC Banner  12×4 ft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480" y="3483864"/>
            <a:ext cx="4389120" cy="274320"/>
          </a:xfrm>
          <a:prstGeom prst="roundRect">
            <a:avLst>
              <a:gd name="adj" fmla="val 16667"/>
            </a:avLst>
          </a:prstGeom>
          <a:solidFill>
            <a:srgbClr val="0D3060"/>
          </a:solidFill>
          <a:ln w="12700">
            <a:solidFill>
              <a:srgbClr val="1B4A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4838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QR / App Board  A4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3831336"/>
            <a:ext cx="4389120" cy="274320"/>
          </a:xfrm>
          <a:prstGeom prst="roundRect">
            <a:avLst>
              <a:gd name="adj" fmla="val 16667"/>
            </a:avLst>
          </a:prstGeom>
          <a:solidFill>
            <a:srgbClr val="0D3060"/>
          </a:solidFill>
          <a:ln w="12700">
            <a:solidFill>
              <a:srgbClr val="1B4A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8313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Safety Board  A4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11480" y="4178808"/>
            <a:ext cx="4389120" cy="274320"/>
          </a:xfrm>
          <a:prstGeom prst="roundRect">
            <a:avLst>
              <a:gd name="adj" fmla="val 16667"/>
            </a:avLst>
          </a:prstGeom>
          <a:solidFill>
            <a:srgbClr val="0D3060"/>
          </a:solidFill>
          <a:ln w="12700">
            <a:solidFill>
              <a:srgbClr val="1B4A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41788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Floor Bay Stencil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" y="4828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NO: BAP-MC-001  |  REV: 02  |  MNIL / MegaCharge  |  2025–26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 · Typography · Logo Rules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COLOURS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665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MegaCharge Green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#1DB954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brand, CTAs, accents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0665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Navy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#0A2540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487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Backgrounds, headers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0665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Orange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2860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#FF6B35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24871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Energy, warnings, highlights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880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73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Poppins ExtraBold 800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23160" y="3273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Banners, primary headlines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Poppins SemiBold 600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Sub-headings, labels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005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Poppins Medium 500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23160" y="40050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copy, instructions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88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RULES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182112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264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Min clear space = 1× logo height on all sides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Approved: Green-on-navy, White-on-green, Mono white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0" y="3867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Never stretch, rotate, or recolour the mark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0" y="4169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 drop shadows or gradients on the mark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645152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BANNED from all MegaCharge sites: Garlands / marigolds · Personal mobile numbers · Grey or white banners · Comic Sans or script typefaces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61830"/>
          </a:solidFill>
          <a:ln w="12700">
            <a:solidFill>
              <a:srgbClr val="0618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01 — AC BANNER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ft × 3 ft  |  Vinyl flex, outdoor  |  300 DPI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5943600" cy="3566160"/>
          </a:xfrm>
          <a:prstGeom prst="roundRect">
            <a:avLst>
              <a:gd name="adj" fmla="val 2564"/>
            </a:avLst>
          </a:prstGeom>
          <a:solidFill>
            <a:srgbClr val="0A2540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566928"/>
            <a:ext cx="5943600" cy="5029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669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MegaCharge — EV Charging Station 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NOW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FURTHER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3042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 7.4 kW Fast Charger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Compatible with all EV two-wheelers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Pay per use · No registration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188720"/>
            <a:ext cx="1645920" cy="1645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74320" y="3749040"/>
            <a:ext cx="594360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37490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to Download App  |  Helpline: 92895 55090  |  @megacharge_ev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0" y="566928"/>
            <a:ext cx="2468880" cy="35661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92240" y="658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SPECS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0" y="1005840"/>
            <a:ext cx="24688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3952" y="1005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589520" y="1005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ft × 3 ft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0" y="1307592"/>
            <a:ext cx="2468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3952" y="1307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589520" y="1307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mm all sides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0" y="1609344"/>
            <a:ext cx="24688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16093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589520" y="16093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DPI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0" y="1911096"/>
            <a:ext cx="2468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73952" y="19110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mode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589520" y="19110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CMYK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0800" y="2212848"/>
            <a:ext cx="24688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73952" y="22128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589520" y="2212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GSM vinyl flex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400800" y="2514600"/>
            <a:ext cx="2468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73952" y="2514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589520" y="2514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 laminate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400800" y="2816352"/>
            <a:ext cx="24688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73952" y="2816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Eyelets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589520" y="28163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24 inches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400800" y="3118104"/>
            <a:ext cx="2468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73952" y="3118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text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589520" y="3118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outlined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400800" y="4315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Swap logo in LOGO_SWAP_ZONE group before print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02 — DC FAST-CHARGE BANNER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ft × 4 ft  |  Vinyl flex, outdoor  |  300 DPI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5943600" cy="3566160"/>
          </a:xfrm>
          <a:prstGeom prst="roundRect">
            <a:avLst>
              <a:gd name="adj" fmla="val 2564"/>
            </a:avLst>
          </a:prstGeom>
          <a:solidFill>
            <a:srgbClr val="0A25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566928"/>
            <a:ext cx="5943600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669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MegaCharge DC FAST CHARGING 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170432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70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30–180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 POWER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117043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IN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03120" y="159105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CCS2 &amp; CHAdeMO connectors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GST bill generated automatically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OCPP 1.6 network managed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24×7 remote monitoring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920240"/>
            <a:ext cx="1645920" cy="10972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02336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₹15 / unit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74320" y="3749040"/>
            <a:ext cx="5943600" cy="384048"/>
          </a:xfrm>
          <a:prstGeom prst="rect">
            <a:avLst/>
          </a:prstGeom>
          <a:solidFill>
            <a:srgbClr val="0D3060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7490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 ·  App: MegaCharge  ·  92895 55090  ·  megaev.co.in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00800" y="566928"/>
            <a:ext cx="2468880" cy="35661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658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SPECS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0" y="1005840"/>
            <a:ext cx="24688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3952" y="1005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589520" y="1005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ft × 4 ft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0" y="1307592"/>
            <a:ext cx="2468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73952" y="13075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589520" y="13075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mm all sides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00800" y="1609344"/>
            <a:ext cx="24688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16093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589520" y="16093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DPI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0" y="1911096"/>
            <a:ext cx="2468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73952" y="19110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mode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589520" y="19110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CMYK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400800" y="2212848"/>
            <a:ext cx="24688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73952" y="22128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589520" y="2212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GSM vinyl flex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400800" y="2514600"/>
            <a:ext cx="2468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73952" y="2514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589520" y="2514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 laminate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400800" y="2816352"/>
            <a:ext cx="24688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73952" y="28163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Eyelets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589520" y="28163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24 inches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400800" y="3118104"/>
            <a:ext cx="24688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73952" y="31181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text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589520" y="31181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outlined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400800" y="4315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Swap logo in LOGO_SWAP_ZONE before print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03 — QR / APP INSTRUCTION 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 |  Gloss laminate, wall-mount  |  300 DPI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"/>
            <a:ext cx="4114800" cy="4343400"/>
          </a:xfrm>
          <a:prstGeom prst="roundRect">
            <a:avLst>
              <a:gd name="adj" fmla="val 2222"/>
            </a:avLst>
          </a:prstGeom>
          <a:solidFill>
            <a:srgbClr val="0A2540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94360"/>
            <a:ext cx="4114800" cy="5486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94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MegaCharge — How to Charge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78992" y="1325880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258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MegaCharge App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55448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ऐप डाउनलोड करें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97280" y="1965960"/>
            <a:ext cx="37490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8992" y="2130552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130552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54480" y="2084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or Select Charger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554480" y="2432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स्कैन करें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1097280" y="2770632"/>
            <a:ext cx="37490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078992" y="2935224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78992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935224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54480" y="28895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Charging Duration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554480" y="3236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समय चुनें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1097280" y="3575304"/>
            <a:ext cx="3749040" cy="9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78992" y="3739896"/>
            <a:ext cx="384048" cy="384048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78992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739896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54480" y="36941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&amp; Start Charging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55448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भुगतान करके शुरू करें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371600" y="429768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1371600" y="4297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CODE]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2468880" y="4343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app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2468880" y="4800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Helpline: 92895 55090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5486400" y="59436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623560" y="713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SPECS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5486400" y="1078992"/>
            <a:ext cx="33832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577840" y="10789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7022592" y="1078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(210×297 mm)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5486400" y="1426464"/>
            <a:ext cx="3383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577840" y="14264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7022592" y="14264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mm all sides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5486400" y="1773936"/>
            <a:ext cx="33832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577840" y="177393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7022592" y="17739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DPI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5486400" y="2121408"/>
            <a:ext cx="3383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5577840" y="212140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mode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7022592" y="21214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CMYK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5486400" y="2468880"/>
            <a:ext cx="33832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577840" y="24688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51" name="Text 45"/>
          <p:cNvSpPr/>
          <p:nvPr/>
        </p:nvSpPr>
        <p:spPr>
          <a:xfrm>
            <a:off x="7022592" y="2468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GSM gloss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5486400" y="2816352"/>
            <a:ext cx="3383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5577840" y="28163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7022592" y="281635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 laminate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5486400" y="3163824"/>
            <a:ext cx="33832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5577840" y="316382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7022592" y="316382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bracket / foam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5486400" y="3511296"/>
            <a:ext cx="3383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5577840" y="351129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text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7022592" y="35112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outlined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5486400" y="3858768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5577840" y="39136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Before print: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Replace [QR CODE] with live app-download QR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Confirm helpline: 92895 55090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Swap logo in LOGO_SWAP_ZONE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04 — SAFETY 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03520" y="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 |  Gloss laminate, wall-mount  |  300 DPI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94360"/>
            <a:ext cx="502920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94360"/>
            <a:ext cx="50292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5943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INSTRUCTIONS / सुरक्षा निर्देश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1399032"/>
            <a:ext cx="4754880" cy="484632"/>
          </a:xfrm>
          <a:prstGeom prst="roundRect">
            <a:avLst>
              <a:gd name="adj" fmla="val 1132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399032"/>
            <a:ext cx="411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61872" y="14264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charge if cable is damaged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261872" y="16459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क्षतिग्रस्त केबल से चार्ज न करें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5800" y="1947672"/>
            <a:ext cx="4754880" cy="484632"/>
          </a:xfrm>
          <a:prstGeom prst="roundRect">
            <a:avLst>
              <a:gd name="adj" fmla="val 1132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1947672"/>
            <a:ext cx="411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61872" y="19751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use in heavy rain or flooding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261872" y="21945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भारी बारिश या बाढ़ में उपयोग न करें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5800" y="2496312"/>
            <a:ext cx="4754880" cy="484632"/>
          </a:xfrm>
          <a:prstGeom prst="roundRect">
            <a:avLst>
              <a:gd name="adj" fmla="val 11321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2496312"/>
            <a:ext cx="411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61872" y="25237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vehicle is in Park / switched OFF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61872" y="2743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वाहन पार्क में रखें / बंद करें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85800" y="3044952"/>
            <a:ext cx="4754880" cy="484632"/>
          </a:xfrm>
          <a:prstGeom prst="roundRect">
            <a:avLst>
              <a:gd name="adj" fmla="val 11321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3044952"/>
            <a:ext cx="411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61872" y="30723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connector fully until it clicks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261872" y="32918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कनेक्टर पूरी तरह लगाएं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85800" y="3593592"/>
            <a:ext cx="4754880" cy="484632"/>
          </a:xfrm>
          <a:prstGeom prst="roundRect">
            <a:avLst>
              <a:gd name="adj" fmla="val 1132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3593592"/>
            <a:ext cx="411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261872" y="36210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leave children unattended near unit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261872" y="38404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बच्चों को अकेला न छोड़ें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85800" y="4142232"/>
            <a:ext cx="4754880" cy="484632"/>
          </a:xfrm>
          <a:prstGeom prst="roundRect">
            <a:avLst>
              <a:gd name="adj" fmla="val 11321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" y="4142232"/>
            <a:ext cx="411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261872" y="41696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case of emergency: press red STOP button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261872" y="4389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आपातकाल में लाल STOP बटन दबाएं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48640" y="4507992"/>
            <a:ext cx="5029200" cy="4297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0080" y="4507992"/>
            <a:ext cx="4846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Emergency: 92895 55090  |  Operator: MegaCharge / Mega Nirman &amp; Industries Ltd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806440" y="594360"/>
            <a:ext cx="3063240" cy="434340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0" y="713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SPECS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06440" y="1078992"/>
            <a:ext cx="30632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97880" y="10789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196328" y="107899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(210×297 mm)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806440" y="1426464"/>
            <a:ext cx="3063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97880" y="14264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196328" y="14264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mm all sides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806440" y="1773936"/>
            <a:ext cx="30632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897880" y="17739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196328" y="17739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DPI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5806440" y="2121408"/>
            <a:ext cx="3063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897880" y="21214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mode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196328" y="212140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CMYK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806440" y="2468880"/>
            <a:ext cx="30632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897880" y="24688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196328" y="24688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GSM gloss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5806440" y="2816352"/>
            <a:ext cx="3063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897880" y="28163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7196328" y="281635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 laminate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5806440" y="3163824"/>
            <a:ext cx="30632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897880" y="31638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7196328" y="316382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 to charger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5806440" y="3511296"/>
            <a:ext cx="3063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897880" y="35112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text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7196328" y="351129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outlined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05 — FLOOR BAY STENCIL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size  |  Thermoplastic paint  |  Vector paths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5486400" cy="43434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932688"/>
            <a:ext cx="2926080" cy="3474720"/>
          </a:xfrm>
          <a:prstGeom prst="rect">
            <a:avLst/>
          </a:prstGeom>
          <a:solidFill>
            <a:srgbClr val="111827"/>
          </a:solidFill>
          <a:ln w="38100">
            <a:solidFill>
              <a:srgbClr val="1DB95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847088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0358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ONLY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3447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MegaCharge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4480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2.5 m  →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749040" y="22128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 5.0 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31520" y="658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width: 100 mm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35040" y="566928"/>
            <a:ext cx="2834640" cy="43434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685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 &amp; NOTES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8346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10515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 size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424928" y="1051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m × 5.0 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35040" y="1399032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13990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width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424928" y="13990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mm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35040" y="1746504"/>
            <a:ext cx="28346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0" y="17465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 type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24928" y="17465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Thermoplastic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35040" y="2093976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6480" y="20939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424928" y="209397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(#1DB954)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035040" y="2441448"/>
            <a:ext cx="28346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26480" y="24414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Arrow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24928" y="24414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Centre-bay, pointing in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035040" y="2788920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27889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Bolt symbol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424928" y="278892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mm × 800 mm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035040" y="3136392"/>
            <a:ext cx="28346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26480" y="313639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height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424928" y="313639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mm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035040" y="3483864"/>
            <a:ext cx="2834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6480" y="34838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424928" y="34838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mm from wall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035040" y="3858768"/>
            <a:ext cx="2834640" cy="9144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26480" y="391363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Apply 2 coats thermoplastic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Reflective additive for low-light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Apply only on clean, dry surface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Apply SOP-SITE-001 acceptance check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B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SWAP GUIDE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instruction — for SVG source files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59436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68680"/>
            <a:ext cx="4114800" cy="3657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12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 — Full Lockup Swap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941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logo + wordmark together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426464"/>
            <a:ext cx="274320" cy="2743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38988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SVG in Illustrator / CorelDRAW / Inkscape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892808"/>
            <a:ext cx="274320" cy="2743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185623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group labelled LOGO_SWAP_ZONE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359152"/>
            <a:ext cx="274320" cy="2743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32257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placeholder lockup inside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825496"/>
            <a:ext cx="274320" cy="2743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2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27889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your official MegaCharge logo at anchor point (see comment)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291840"/>
            <a:ext cx="274320" cy="2743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25526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fit within the lockup box dimensions shown in comments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758184"/>
            <a:ext cx="274320" cy="274320"/>
          </a:xfrm>
          <a:prstGeom prst="ellipse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372160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logo mark is in MegaCharge Green (#1DB954)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59436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59436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868680"/>
            <a:ext cx="411480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612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 — Mark-Only Swap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941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only the M-monogram mark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1426464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12080" y="138988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SVG in your design tool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1892808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185623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the sub-group MARK_ZONE inside LOGO_SWAP_ZONE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2359152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232257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placeholder M-mark shape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2825496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82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12080" y="27889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your vector mark centred at the anchor point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291840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12080" y="325526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mark to fit the mark box (dimensions in comments)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3758184"/>
            <a:ext cx="274320" cy="2743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12080" y="372160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Poppins wordmark below will stay unchanged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4681728"/>
            <a:ext cx="8595360" cy="347472"/>
          </a:xfrm>
          <a:prstGeom prst="roundRect">
            <a:avLst>
              <a:gd name="adj" fmla="val 15789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ℹ  Latin text is live/editable. Hindi text is vector-outlined — do not retype; if changes needed, re-outline from HarfBuzz pipeline. Lockup box &amp; anchor coordinates are embedded in SVG comments.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PRINTER HANDOFF CHECKLIST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before sending to vendor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859536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566928"/>
            <a:ext cx="8595360" cy="301752"/>
          </a:xfrm>
          <a:prstGeom prst="roundRect">
            <a:avLst>
              <a:gd name="adj" fmla="val 24242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31520"/>
            <a:ext cx="8595360" cy="137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6692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PRE-FLIGHT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914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91440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CMYK colour mode (NOT RGB) — verify in Illustrator Colour Profile panel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1133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13385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≥ 300 DPI at final print size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3533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135331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mm bleed added on all four sides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15727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157276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/ trim marks included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17922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179222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colour PANTONE not used — pure CMYK only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075688"/>
            <a:ext cx="859536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075688"/>
            <a:ext cx="8595360" cy="301752"/>
          </a:xfrm>
          <a:prstGeom prst="roundRect">
            <a:avLst>
              <a:gd name="adj" fmla="val 24242"/>
            </a:avLst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240280"/>
            <a:ext cx="8595360" cy="1371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07568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&amp; 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2423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24231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swapped from LOGO_SWAP_ZONE placeholder to official file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26426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264261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text remains vector-outlined (do not convert back to live text)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286207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286207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Helpline number confirmed: 92895 55090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30815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308152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replaced with live app-download QR (Asset 03 only)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33009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330098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personal phone numbers on any asset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584448"/>
            <a:ext cx="859536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584448"/>
            <a:ext cx="8595360" cy="301752"/>
          </a:xfrm>
          <a:prstGeom prst="roundRect">
            <a:avLst>
              <a:gd name="adj" fmla="val 2424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749040"/>
            <a:ext cx="8595360" cy="1371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584448"/>
            <a:ext cx="8321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CONFIRMATION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39319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" y="39319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 Banner (8×3 ft): 500 GSM vinyl flex, matte laminate, eyelets every 24 in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1480" y="41513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1520" y="415137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Banner (12×4 ft): 500 GSM vinyl flex, matte laminate, eyelets every 24 in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11480" y="43708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" y="437083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Board (A4): 170 GSM gloss coated, gloss laminate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11480" y="45902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0" y="459028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Board (A4): 170 GSM gloss coated, gloss laminate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1480" y="48097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480974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stencil: thermoplastic, green (#1DB954), reflective additive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MegaCharge Branding Asset Pack</dc:title>
  <dc:subject>PptxGenJS Presentation</dc:subject>
  <dc:creator>Mega Nirman &amp; Industries Limited</dc:creator>
  <cp:lastModifiedBy>Mega Nirman &amp; Industries Limited</cp:lastModifiedBy>
  <cp:revision>1</cp:revision>
  <dcterms:created xsi:type="dcterms:W3CDTF">2026-06-29T06:06:35Z</dcterms:created>
  <dcterms:modified xsi:type="dcterms:W3CDTF">2026-06-29T06:06:35Z</dcterms:modified>
</cp:coreProperties>
</file>